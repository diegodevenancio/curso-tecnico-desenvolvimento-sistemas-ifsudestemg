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0CDF5"/>
                </a:solidFill>
              </a:defRPr>
            </a:pPr>
            <a:r>
              <a:t>Unidade 4</a:t>
            </a:r>
          </a:p>
          <a:p>
            <a:pPr>
              <a:defRPr sz="3900" b="1">
                <a:solidFill>
                  <a:srgbClr val="FFFFFF"/>
                </a:solidFill>
              </a:defRPr>
            </a:pPr>
            <a:r>
              <a:t>JavaScript e Interatividade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E6F0"/>
                </a:solidFill>
              </a:defRPr>
            </a:pPr>
            <a:r>
              <a:t>Do código básico às primeiras páginas Web interativas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1. Apresentação da 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HTML estrutura o conteúdo da página.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CSS controla a aparência e o layout.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JavaScript adiciona comportamento e interatividade.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Com JavaScript, a página pode responder às ações do usuário.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Também vamos desenvolver lógica de programação e resolução de problemas.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2. O que é JavaScript?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JavaScript é uma linguagem de programação muito utilizada no desenvolvimento Web.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Permite criar comportamentos dinâmicos e interativos.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Pode executar cálculos, validar dados, responder a eventos e alterar a página.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É executado pelo navegador quando utilizado no lado do cliente.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JavaScript também pode ser utilizado fora do navegador, por exemplo com Node.js.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3. HTML + CSS +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32323"/>
                </a:solidFill>
              </a:defRPr>
            </a:pPr>
            <a:r>
              <a:t>HTML → estrutura e conteúdo.</a:t>
            </a:r>
          </a:p>
          <a:p>
            <a:pPr>
              <a:spcAft>
                <a:spcPts val="900"/>
              </a:spcAft>
              <a:defRPr sz="2200">
                <a:solidFill>
                  <a:srgbClr val="232323"/>
                </a:solidFill>
              </a:defRPr>
            </a:pPr>
            <a:r>
              <a:t>CSS → aparência, cores, fontes e layout.</a:t>
            </a:r>
          </a:p>
          <a:p>
            <a:pPr>
              <a:spcAft>
                <a:spcPts val="900"/>
              </a:spcAft>
              <a:defRPr sz="2200">
                <a:solidFill>
                  <a:srgbClr val="232323"/>
                </a:solidFill>
              </a:defRPr>
            </a:pPr>
            <a:r>
              <a:t>JavaScript → comportamento, lógica e interação.</a:t>
            </a:r>
          </a:p>
          <a:p>
            <a:pPr>
              <a:spcAft>
                <a:spcPts val="900"/>
              </a:spcAft>
              <a:defRPr sz="2200">
                <a:solidFill>
                  <a:srgbClr val="232323"/>
                </a:solidFill>
              </a:defRPr>
            </a:pPr>
            <a:r>
              <a:t>Uma aplicação Web normalmente combina essas três tecnologias.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789920" cy="1645920"/>
          </a:xfrm>
          <a:prstGeom prst="roundRect">
            <a:avLst/>
          </a:prstGeom>
          <a:solidFill>
            <a:srgbClr val="1C2026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005072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EBF0"/>
                </a:solidFill>
                <a:latin typeface="Consolas"/>
              </a:defRPr>
            </a:pPr>
            <a:r>
              <a:t>HTML</a:t>
            </a:r>
            <a:br/>
            <a:r>
              <a:t>  ↓</a:t>
            </a:r>
            <a:br/>
            <a:r>
              <a:t>Estrutura da página</a:t>
            </a:r>
            <a:br/>
            <a:br/>
            <a:r>
              <a:t>CSS</a:t>
            </a:r>
            <a:br/>
            <a:r>
              <a:t>  ↓</a:t>
            </a:r>
            <a:br/>
            <a:r>
              <a:t>Aparência da página</a:t>
            </a:r>
            <a:br/>
            <a:br/>
            <a:r>
              <a:t>JavaScript</a:t>
            </a:r>
            <a:br/>
            <a:r>
              <a:t>  ↓</a:t>
            </a:r>
            <a:br/>
            <a:r>
              <a:t>Comportamento e interação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4. Como adicionar JavaScript ao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Podemos escrever JavaScript diretamente no HTML usando &lt;script&gt;.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Também podemos utilizar um arquivo externo .js.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Arquivos externos facilitam a organização e manutenção do projeto.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37560"/>
            <a:ext cx="10789920" cy="2103120"/>
          </a:xfrm>
          <a:prstGeom prst="roundRect">
            <a:avLst/>
          </a:prstGeom>
          <a:solidFill>
            <a:srgbClr val="1C2026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02152"/>
            <a:ext cx="10332720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6EBF0"/>
                </a:solidFill>
                <a:latin typeface="Consolas"/>
              </a:defRPr>
            </a:pPr>
            <a:r>
              <a:t>&lt;!-- JavaScript no próprio HTML --&gt;</a:t>
            </a:r>
            <a:br/>
            <a:r>
              <a:t>&lt;script&gt;</a:t>
            </a:r>
            <a:br/>
            <a:r>
              <a:t>    alert("Olá, mundo!");</a:t>
            </a:r>
            <a:br/>
            <a:r>
              <a:t>&lt;/script&gt;</a:t>
            </a:r>
            <a:br/>
            <a:br/>
            <a:r>
              <a:t>&lt;!-- Arquivo externo --&gt;</a:t>
            </a:r>
            <a:br/>
            <a:r>
              <a:t>&lt;script src="script.js"&gt;&lt;/script&gt;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5. Primeiro código JavaScript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89920" cy="4023360"/>
          </a:xfrm>
          <a:prstGeom prst="roundRect">
            <a:avLst/>
          </a:prstGeom>
          <a:solidFill>
            <a:srgbClr val="1C2026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81912"/>
            <a:ext cx="1033272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6EBF0"/>
                </a:solidFill>
                <a:latin typeface="Consolas"/>
              </a:defRPr>
            </a:pPr>
            <a:r>
              <a:t>console.log("Olá, mundo!");</a:t>
            </a:r>
            <a:br/>
            <a:br/>
            <a:r>
              <a:t>let nome = "Victor";</a:t>
            </a:r>
            <a:br/>
            <a:r>
              <a:t>console.log("Olá, " + nome);</a:t>
            </a:r>
            <a:br/>
            <a:br/>
            <a:r>
              <a:t>let idade = 20;</a:t>
            </a:r>
            <a:br/>
            <a:r>
              <a:t>console.log(idade);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</a:defRPr>
            </a:pPr>
            <a:r>
              <a:t>console.log() é muito útil para testar valores e acompanhar a execução do código.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6. Variáveis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Variáveis armazenam informações que podem ser utilizadas durante a execução do programa.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let: utilizada quando o valor pode ser alterado.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const: utilizada quando a referência não deve ser reatribuída.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Evite nomes pouco descritivos como x, y ou a em códigos maiores.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86200"/>
            <a:ext cx="10789920" cy="1508760"/>
          </a:xfrm>
          <a:prstGeom prst="roundRect">
            <a:avLst/>
          </a:prstGeom>
          <a:solidFill>
            <a:srgbClr val="1C2026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050791"/>
            <a:ext cx="1033272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EBF0"/>
                </a:solidFill>
                <a:latin typeface="Consolas"/>
              </a:defRPr>
            </a:pPr>
            <a:r>
              <a:t>let nome = "Ana";</a:t>
            </a:r>
            <a:br/>
            <a:r>
              <a:t>let idade = 18;</a:t>
            </a:r>
            <a:br/>
            <a:br/>
            <a:r>
              <a:t>const curso = "Desenvolvimento de Sistemas";</a:t>
            </a:r>
            <a:br/>
            <a:br/>
            <a:r>
              <a:t>idade = 19;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7. Tipos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String → textos.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Number → números inteiros ou decimais.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Boolean → true ou false.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Array → coleção ordenada de valores.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Object → conjunto de propriedades e valores.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undefined / null → representam ausência ou falta de valor em contextos diferentes.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8. Operadores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Matemáticos: +, -, *, / e %.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Comparação: ===, !==, &gt;, &lt;, &gt;= e &lt;=.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Lógicos: &amp;&amp; (E), || (OU) e ! (NÃO).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Use === para comparação estrita na maioria dos casos.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0789920" cy="1828800"/>
          </a:xfrm>
          <a:prstGeom prst="roundRect">
            <a:avLst/>
          </a:prstGeom>
          <a:solidFill>
            <a:srgbClr val="1C2026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822191"/>
            <a:ext cx="103327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6EBF0"/>
                </a:solidFill>
                <a:latin typeface="Consolas"/>
              </a:defRPr>
            </a:pPr>
            <a:r>
              <a:t>let a = 10;</a:t>
            </a:r>
            <a:br/>
            <a:r>
              <a:t>let b = 3;</a:t>
            </a:r>
            <a:br/>
            <a:br/>
            <a:r>
              <a:t>console.log(a + b);   // 13</a:t>
            </a:r>
            <a:br/>
            <a:r>
              <a:t>console.log(a &gt; b);   // true</a:t>
            </a:r>
            <a:br/>
            <a:r>
              <a:t>console.log(a === b); // false</a:t>
            </a:r>
            <a:br/>
            <a:r>
              <a:t>console.log(a % b);   // 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9. Estruturas condicionais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Permitem executar diferentes comandos de acordo com uma condição.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if → executa um bloco quando a condição é verdadeira.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else → executa outro bloco quando a condição é falsa.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else if → permite testar condições adicionais.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10789920" cy="1828800"/>
          </a:xfrm>
          <a:prstGeom prst="roundRect">
            <a:avLst/>
          </a:prstGeom>
          <a:solidFill>
            <a:srgbClr val="1C2026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730752"/>
            <a:ext cx="103327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EBF0"/>
                </a:solidFill>
                <a:latin typeface="Consolas"/>
              </a:defRPr>
            </a:pPr>
            <a:r>
              <a:t>let idade = 18;</a:t>
            </a:r>
            <a:br/>
            <a:br/>
            <a:r>
              <a:t>if (idade &gt;= 18) {</a:t>
            </a:r>
            <a:br/>
            <a:r>
              <a:t>    console.log("Maior de idade");</a:t>
            </a:r>
            <a:br/>
            <a:r>
              <a:t>} else {</a:t>
            </a:r>
            <a:br/>
            <a:r>
              <a:t>    console.log("Menor de idade");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10. Estruturas de repetição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Repetições permitem executar um bloco de código várias vezes.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for → indicado quando sabemos ou controlamos a quantidade de repetições.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while → continua enquanto uma condição for verdadeira.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Evite criar loops infinitos.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37560"/>
            <a:ext cx="10789920" cy="2148840"/>
          </a:xfrm>
          <a:prstGeom prst="roundRect">
            <a:avLst/>
          </a:prstGeom>
          <a:solidFill>
            <a:srgbClr val="1C2026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02152"/>
            <a:ext cx="10332720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BF0"/>
                </a:solidFill>
                <a:latin typeface="Consolas"/>
              </a:defRPr>
            </a:pPr>
            <a:r>
              <a:t>for (let i = 1; i &lt;= 5; i++) {</a:t>
            </a:r>
            <a:br/>
            <a:r>
              <a:t>    console.log("Número: " + i);</a:t>
            </a:r>
            <a:br/>
            <a:r>
              <a:t>}</a:t>
            </a:r>
            <a:br/>
            <a:br/>
            <a:r>
              <a:t>let contador = 1;</a:t>
            </a:r>
            <a:br/>
            <a:r>
              <a:t>while (contador &lt;= 3) {</a:t>
            </a:r>
            <a:br/>
            <a:r>
              <a:t>    console.log(contador);</a:t>
            </a:r>
            <a:br/>
            <a:r>
              <a:t>    contador++;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11. Funções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Funções agrupam instruções que realizam uma tarefa.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Podem receber parâmetros.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Podem retornar um resultado com return.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Funções ajudam a evitar repetição de código.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0789920" cy="1828800"/>
          </a:xfrm>
          <a:prstGeom prst="roundRect">
            <a:avLst/>
          </a:prstGeom>
          <a:solidFill>
            <a:srgbClr val="1C2026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822191"/>
            <a:ext cx="103327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EBF0"/>
                </a:solidFill>
                <a:latin typeface="Consolas"/>
              </a:defRPr>
            </a:pPr>
            <a:r>
              <a:t>function somar(a, b) {</a:t>
            </a:r>
            <a:br/>
            <a:r>
              <a:t>    return a + b;</a:t>
            </a:r>
            <a:br/>
            <a:r>
              <a:t>}</a:t>
            </a:r>
            <a:br/>
            <a:br/>
            <a:r>
              <a:t>let resultado = somar(10, 5);</a:t>
            </a:r>
            <a:br/>
            <a:r>
              <a:t>console.log(resultado); //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12. Eventos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Eventos representam ações que acontecem na página.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Exemplos: clique, digitação, envio de formulário e mudança de seleção.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JavaScript pode detectar o evento e executar uma função.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addEventListener() é uma forma comum de registrar eventos.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0789920" cy="1828800"/>
          </a:xfrm>
          <a:prstGeom prst="roundRect">
            <a:avLst/>
          </a:prstGeom>
          <a:solidFill>
            <a:srgbClr val="1C2026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822191"/>
            <a:ext cx="103327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6EBF0"/>
                </a:solidFill>
                <a:latin typeface="Consolas"/>
              </a:defRPr>
            </a:pPr>
            <a:r>
              <a:t>const botao = document.querySelector("#btn");</a:t>
            </a:r>
            <a:br/>
            <a:br/>
            <a:r>
              <a:t>botao.addEventListener("click", function() {</a:t>
            </a:r>
            <a:br/>
            <a:r>
              <a:t>    alert("Botão clicado!");</a:t>
            </a:r>
            <a:br/>
            <a:r>
              <a:t>});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13. Manipulando o HTML com 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DOM significa Document Object Model.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O navegador representa a página HTML como uma estrutura de objetos.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JavaScript pode localizar e alterar elementos do DOM.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document.querySelector() localiza um elemento usando um seletor CSS.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Podemos alterar textos, atributos, classes e outros conteúdos.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14. Alterando o conteúdo da página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89920" cy="4846320"/>
          </a:xfrm>
          <a:prstGeom prst="roundRect">
            <a:avLst/>
          </a:prstGeom>
          <a:solidFill>
            <a:srgbClr val="1C2026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81912"/>
            <a:ext cx="10332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BF0"/>
                </a:solidFill>
                <a:latin typeface="Consolas"/>
              </a:defRPr>
            </a:pPr>
            <a:r>
              <a:t>&lt;h1 id="titulo"&gt;Texto original&lt;/h1&gt;</a:t>
            </a:r>
            <a:br/>
            <a:r>
              <a:t>&lt;button id="btn"&gt;Alterar&lt;/button&gt;</a:t>
            </a:r>
            <a:br/>
            <a:br/>
            <a:r>
              <a:t>&lt;script&gt;</a:t>
            </a:r>
            <a:br/>
            <a:r>
              <a:t>const titulo = document.querySelector("#titulo");</a:t>
            </a:r>
            <a:br/>
            <a:r>
              <a:t>const btn = document.querySelector("#btn");</a:t>
            </a:r>
            <a:br/>
            <a:br/>
            <a:r>
              <a:t>btn.addEventListener("click", function() {</a:t>
            </a:r>
            <a:br/>
            <a:r>
              <a:t>    titulo.textContent = "Texto alterado!";</a:t>
            </a:r>
            <a:br/>
            <a:r>
              <a:t>});</a:t>
            </a:r>
            <a:br/>
            <a:r>
              <a:t>&lt;/script&gt;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15. Trabalhando com formulários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JavaScript pode ler os valores digitados pelo usuário.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Também pode validar informações antes de processá-las.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preventDefault() pode impedir o envio tradicional do formulário.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Uma validação simples pode verificar se um campo foi preenchido.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46120"/>
            <a:ext cx="10789920" cy="2331720"/>
          </a:xfrm>
          <a:prstGeom prst="roundRect">
            <a:avLst/>
          </a:prstGeom>
          <a:solidFill>
            <a:srgbClr val="1C2026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410712"/>
            <a:ext cx="1033272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BF0"/>
                </a:solidFill>
                <a:latin typeface="Consolas"/>
              </a:defRPr>
            </a:pPr>
            <a:r>
              <a:t>const form = document.querySelector("#form");</a:t>
            </a:r>
            <a:br/>
            <a:br/>
            <a:r>
              <a:t>form.addEventListener("submit", function(event) {</a:t>
            </a:r>
            <a:br/>
            <a:r>
              <a:t>    event.preventDefault();</a:t>
            </a:r>
            <a:br/>
            <a:br/>
            <a:r>
              <a:t>    const nome = document.querySelector("#nome").value;</a:t>
            </a:r>
            <a:br/>
            <a:br/>
            <a:r>
              <a:t>    if (nome === "") {</a:t>
            </a:r>
            <a:br/>
            <a:r>
              <a:t>        alert("Informe seu nome.");</a:t>
            </a:r>
            <a:br/>
            <a:r>
              <a:t>    }</a:t>
            </a:r>
            <a:br/>
            <a:r>
              <a:t>});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16. Exemplo: calculadora simples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89920" cy="3931920"/>
          </a:xfrm>
          <a:prstGeom prst="roundRect">
            <a:avLst/>
          </a:prstGeom>
          <a:solidFill>
            <a:srgbClr val="1C2026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81912"/>
            <a:ext cx="10332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EBF0"/>
                </a:solidFill>
                <a:latin typeface="Consolas"/>
              </a:defRPr>
            </a:pPr>
            <a:r>
              <a:t>const n1 = Number(prompt("Digite o primeiro número:"));</a:t>
            </a:r>
            <a:br/>
            <a:r>
              <a:t>const n2 = Number(prompt("Digite o segundo número:"));</a:t>
            </a:r>
            <a:br/>
            <a:br/>
            <a:r>
              <a:t>const soma = n1 + n2;</a:t>
            </a:r>
            <a:br/>
            <a:br/>
            <a:r>
              <a:t>console.log("Resultado:", soma);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323"/>
                </a:solidFill>
              </a:defRPr>
            </a:pPr>
            <a:r>
              <a:t>Number() converte o valor recebido em número.</a:t>
            </a:r>
          </a:p>
          <a:p>
            <a:pPr>
              <a:spcAft>
                <a:spcPts val="900"/>
              </a:spcAft>
              <a:defRPr sz="1600">
                <a:solidFill>
                  <a:srgbClr val="232323"/>
                </a:solidFill>
              </a:defRPr>
            </a:pPr>
            <a:r>
              <a:t>Experimente modificar o exemplo para subtração, multiplicação e divisão.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17. Exemplo: interação com botão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89920" cy="4800600"/>
          </a:xfrm>
          <a:prstGeom prst="roundRect">
            <a:avLst/>
          </a:prstGeom>
          <a:solidFill>
            <a:srgbClr val="1C2026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81912"/>
            <a:ext cx="1033272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BF0"/>
                </a:solidFill>
                <a:latin typeface="Consolas"/>
              </a:defRPr>
            </a:pPr>
            <a:r>
              <a:t>&lt;p id="mensagem"&gt;Clique no botão.&lt;/p&gt;</a:t>
            </a:r>
            <a:br/>
            <a:r>
              <a:t>&lt;button id="btn"&gt;Clique aqui&lt;/button&gt;</a:t>
            </a:r>
            <a:br/>
            <a:br/>
            <a:r>
              <a:t>&lt;script&gt;</a:t>
            </a:r>
            <a:br/>
            <a:r>
              <a:t>const mensagem = document.querySelector("#mensagem");</a:t>
            </a:r>
            <a:br/>
            <a:r>
              <a:t>const btn = document.querySelector("#btn");</a:t>
            </a:r>
            <a:br/>
            <a:br/>
            <a:r>
              <a:t>btn.addEventListener("click", () =&gt; {</a:t>
            </a:r>
            <a:br/>
            <a:r>
              <a:t>    mensagem.textContent = "Você clicou no botão!";</a:t>
            </a:r>
            <a:br/>
            <a:r>
              <a:t>});</a:t>
            </a:r>
            <a:br/>
            <a:r>
              <a:t>&lt;/script&gt;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18. Boas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Use nomes de variáveis e funções que indiquem sua finalidade.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Indente o código para facilitar a leitura.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Evite repetir código desnecessariamente.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Utilize const quando não houver necessidade de reatribuição.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Teste pequenas partes do programa antes de criar soluções maiores.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Use console.log() para investigar valores durante o desenvolvimento.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Comente apenas quando o comentário realmente ajudar a compreender o código.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19. Como estudar esta 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t>1. Assista às videoaulas de JavaScript.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t>2. Leia o material didático.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t>3. Digite e execute os exemplos.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t>4. Faça pequenas alterações e observe os resultados.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t>5. Resolva os exercícios de lógica e programação.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t>6. Explore os materiais complementares.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t>7. Participe do fórum de dúvidas.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t>8. Realize a atividade prática.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t>9. Faça a avaliação proposta.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20. Atividade prática – Página Web interativa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t>Utilize HTML + CSS + JavaScript para construir uma pequena página Web interativa.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t>A página deverá conter:</a:t>
            </a:r>
          </a:p>
          <a:p>
            <a:pPr lvl="1">
              <a:spcAft>
                <a:spcPts val="900"/>
              </a:spcAft>
              <a:defRPr sz="1500">
                <a:solidFill>
                  <a:srgbClr val="232323"/>
                </a:solidFill>
              </a:defRPr>
            </a:pPr>
            <a:r>
              <a:t>Uma estrutura HTML organizada.</a:t>
            </a:r>
          </a:p>
          <a:p>
            <a:pPr lvl="1">
              <a:spcAft>
                <a:spcPts val="900"/>
              </a:spcAft>
              <a:defRPr sz="1500">
                <a:solidFill>
                  <a:srgbClr val="232323"/>
                </a:solidFill>
              </a:defRPr>
            </a:pPr>
            <a:r>
              <a:t>Estilos CSS básicos.</a:t>
            </a:r>
          </a:p>
          <a:p>
            <a:pPr lvl="1">
              <a:spcAft>
                <a:spcPts val="900"/>
              </a:spcAft>
              <a:defRPr sz="1500">
                <a:solidFill>
                  <a:srgbClr val="232323"/>
                </a:solidFill>
              </a:defRPr>
            </a:pPr>
            <a:r>
              <a:t>Pelo menos uma variável e uma função JavaScript.</a:t>
            </a:r>
          </a:p>
          <a:p>
            <a:pPr lvl="1">
              <a:spcAft>
                <a:spcPts val="900"/>
              </a:spcAft>
              <a:defRPr sz="1500">
                <a:solidFill>
                  <a:srgbClr val="232323"/>
                </a:solidFill>
              </a:defRPr>
            </a:pPr>
            <a:r>
              <a:t>Um botão com evento de clique.</a:t>
            </a:r>
          </a:p>
          <a:p>
            <a:pPr lvl="1">
              <a:spcAft>
                <a:spcPts val="900"/>
              </a:spcAft>
              <a:defRPr sz="1500">
                <a:solidFill>
                  <a:srgbClr val="232323"/>
                </a:solidFill>
              </a:defRPr>
            </a:pPr>
            <a:r>
              <a:t>Alguma alteração no conteúdo da página.</a:t>
            </a:r>
          </a:p>
          <a:p>
            <a:pPr lvl="1">
              <a:spcAft>
                <a:spcPts val="900"/>
              </a:spcAft>
              <a:defRPr sz="1500">
                <a:solidFill>
                  <a:srgbClr val="232323"/>
                </a:solidFill>
              </a:defRPr>
            </a:pPr>
            <a:r>
              <a:t>Um formulário ou campo de entrada.</a:t>
            </a:r>
          </a:p>
          <a:p>
            <a:pPr lvl="1">
              <a:spcAft>
                <a:spcPts val="900"/>
              </a:spcAft>
              <a:defRPr sz="1500">
                <a:solidFill>
                  <a:srgbClr val="232323"/>
                </a:solidFill>
              </a:defRPr>
            </a:pPr>
            <a:r>
              <a:t>Uma validação ou cálculo realizado com JavaScript.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21. Desafio: transforme sua página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Escolha uma funcionalidade simples para sua página.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Exemplos: calculadora, conversor, contador, cadastro, lista de tarefas ou formulário.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Defina quais dados o usuário irá informar.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Defina quais ações poderão ser realizadas.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Use JavaScript para processar os dados.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Apresente o resultado na própria página.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Teste diferentes entradas e corrija os problemas encontrados.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22. Revisão da 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JavaScript adiciona comportamento e interatividade às páginas Web.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Variáveis armazenam dados e operadores permitem trabalhar com esses dados.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Condicionais permitem tomar decisões.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Repetições permitem executar tarefas várias vezes.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Funções organizam e reutilizam código.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Eventos permitem responder às ações do usuário.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DOM permite acessar e modificar elementos HTML.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HTML + CSS + JavaScript formam uma base fundamental para o desenvolvimento Web.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B"/>
                </a:solidFill>
              </a:defRPr>
            </a:pPr>
            <a:r>
              <a:t>23. 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32323"/>
                </a:solidFill>
              </a:defRPr>
            </a:pPr>
            <a:r>
              <a:t>Você agora deu os primeiros passos na programação com JavaScript.</a:t>
            </a:r>
          </a:p>
          <a:p>
            <a:pPr>
              <a:spcAft>
                <a:spcPts val="900"/>
              </a:spcAft>
              <a:defRPr sz="2200">
                <a:solidFill>
                  <a:srgbClr val="232323"/>
                </a:solidFill>
              </a:defRPr>
            </a:pPr>
            <a:r>
              <a:t>O principal objetivo desta unidade é praticar: escrever, executar, testar e modificar.</a:t>
            </a:r>
          </a:p>
          <a:p>
            <a:pPr>
              <a:spcAft>
                <a:spcPts val="900"/>
              </a:spcAft>
              <a:defRPr sz="2200">
                <a:solidFill>
                  <a:srgbClr val="232323"/>
                </a:solidFill>
              </a:defRPr>
            </a:pPr>
            <a:r>
              <a:t>Não tenha medo dos erros: use as mensagens do navegador e o console para investigar o problema.</a:t>
            </a:r>
          </a:p>
          <a:p>
            <a:pPr>
              <a:spcAft>
                <a:spcPts val="900"/>
              </a:spcAft>
              <a:defRPr sz="2200">
                <a:solidFill>
                  <a:srgbClr val="232323"/>
                </a:solidFill>
              </a:defRPr>
            </a:pPr>
            <a:r>
              <a:t>Na próxima etapa, você poderá ampliar essas habilidades para construir aplicações Web cada vez mais completas.</a:t>
            </a:r>
          </a:p>
          <a:p>
            <a:pPr>
              <a:spcAft>
                <a:spcPts val="900"/>
              </a:spcAft>
              <a:defRPr sz="2200">
                <a:solidFill>
                  <a:srgbClr val="232323"/>
                </a:solidFill>
              </a:defRPr>
            </a:pPr>
            <a:r>
              <a:t>Bom estudo e boa programação!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Programação Web • Unidade 4 – JavaScript e Interatividade   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